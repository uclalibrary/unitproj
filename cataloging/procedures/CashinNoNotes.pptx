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3" r:id="rId9"/>
    <p:sldId id="265" r:id="rId10"/>
    <p:sldId id="266" r:id="rId11"/>
    <p:sldId id="267" r:id="rId12"/>
    <p:sldId id="268" r:id="rId13"/>
    <p:sldId id="269" r:id="rId14"/>
    <p:sldId id="270" r:id="rId1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156" autoAdjust="0"/>
  </p:normalViewPr>
  <p:slideViewPr>
    <p:cSldViewPr>
      <p:cViewPr varScale="1">
        <p:scale>
          <a:sx n="96" d="100"/>
          <a:sy n="96" d="100"/>
        </p:scale>
        <p:origin x="-41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1487901-A1E9-4830-AF20-C3DBF7EF3011}" type="datetimeFigureOut">
              <a:rPr lang="en-US"/>
              <a:pPr>
                <a:defRPr/>
              </a:pPr>
              <a:t>3/15/2010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F925FEE-6A11-4AE0-91E7-EE0477E9A6F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C8A30D7-0F0E-4683-991A-0134DC5C33D6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6410C1E-E984-4DE2-99D7-C4A740CD6AB8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568B55D-309D-4C9D-91D6-8E154B8574C8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B32F2AB-7EBB-4426-AE53-3FB770E4C421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F925FEE-6A11-4AE0-91E7-EE0477E9A6F3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A01D7C2-A73A-4E8C-9DFA-8BC367C02FBE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i="1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C9934DE-E4BA-4F61-8DBB-BC9861420BC4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D4C490A-E8B1-454F-8A8B-EACC3330F486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0BD4B2-D90C-4164-85FD-52D0BF533945}" type="datetimeFigureOut">
              <a:rPr lang="en-US"/>
              <a:pPr>
                <a:defRPr/>
              </a:pPr>
              <a:t>3/15/2010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75D751-99E2-4149-AB4D-597B924B6C3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7268C5-612C-42F3-83DA-65B362F74B1D}" type="datetimeFigureOut">
              <a:rPr lang="en-US"/>
              <a:pPr>
                <a:defRPr/>
              </a:pPr>
              <a:t>3/15/2010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FB4357-2755-4098-B125-D9DB4F0826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1C7F16-9CBA-41FB-82A0-35AA4E356629}" type="datetimeFigureOut">
              <a:rPr lang="en-US"/>
              <a:pPr>
                <a:defRPr/>
              </a:pPr>
              <a:t>3/15/2010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E96A4B-72F0-4ED7-BD7B-DC182C3E05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FF2A3-A6A6-4FC4-B3DE-C8F1065ED279}" type="datetimeFigureOut">
              <a:rPr lang="en-US"/>
              <a:pPr>
                <a:defRPr/>
              </a:pPr>
              <a:t>3/15/2010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AB10B2-4CB0-4024-8D3E-DBFF3F1914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46A1C6-1ECD-4302-B794-72516060905A}" type="datetimeFigureOut">
              <a:rPr lang="en-US"/>
              <a:pPr>
                <a:defRPr/>
              </a:pPr>
              <a:t>3/15/2010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432576-25E8-4CAD-9E54-90DEDC45A6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18682F-775C-45EC-996B-652BF774F849}" type="datetimeFigureOut">
              <a:rPr lang="en-US"/>
              <a:pPr>
                <a:defRPr/>
              </a:pPr>
              <a:t>3/15/2010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E0F991-053B-4EE1-8315-A86E5BCF74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D7578A-FD26-47FF-A457-B15CA5CF3379}" type="datetimeFigureOut">
              <a:rPr lang="en-US"/>
              <a:pPr>
                <a:defRPr/>
              </a:pPr>
              <a:t>3/15/2010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4BA95A-64E8-42A2-89CE-B0F26706DB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12E86F-0F12-4944-8324-96889F24FCE1}" type="datetimeFigureOut">
              <a:rPr lang="en-US"/>
              <a:pPr>
                <a:defRPr/>
              </a:pPr>
              <a:t>3/15/2010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95751F-A4FD-412D-B889-ED04CFA6CB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A3DFDB-6375-4B20-A00B-29498DC52E25}" type="datetimeFigureOut">
              <a:rPr lang="en-US"/>
              <a:pPr>
                <a:defRPr/>
              </a:pPr>
              <a:t>3/15/2010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32C4E7-AADF-4381-AFEE-2AEB2B4A05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7249FA-7230-4423-806D-58DD64ADD23B}" type="datetimeFigureOut">
              <a:rPr lang="en-US"/>
              <a:pPr>
                <a:defRPr/>
              </a:pPr>
              <a:t>3/15/2010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DA829C-D292-401A-AF5A-4FB7559FEC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A73EF1-379A-40DA-8522-BE283BC214AB}" type="datetimeFigureOut">
              <a:rPr lang="en-US"/>
              <a:pPr>
                <a:defRPr/>
              </a:pPr>
              <a:t>3/15/2010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03D214-FCCF-4B3B-B061-E90CA378AD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B59763C-A1C3-40E4-97E0-5E0EED1F5B59}" type="datetimeFigureOut">
              <a:rPr lang="en-US"/>
              <a:pPr>
                <a:defRPr/>
              </a:pPr>
              <a:t>3/15/2010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52AEDB1-E58D-4FAB-9D6E-E5B8EAF18F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www.oac.cdlib.org/findaid/ark:/13030/kt9z09q97x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etty.edu/research/conducting_research/vocabularies/aat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://ow.ly/1lj08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43200" y="1219200"/>
            <a:ext cx="3124200" cy="4014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Title 1"/>
          <p:cNvSpPr>
            <a:spLocks noGrp="1"/>
          </p:cNvSpPr>
          <p:nvPr>
            <p:ph type="ctrTitle"/>
          </p:nvPr>
        </p:nvSpPr>
        <p:spPr>
          <a:xfrm>
            <a:off x="609600" y="228600"/>
            <a:ext cx="7162800" cy="1066800"/>
          </a:xfrm>
        </p:spPr>
        <p:txBody>
          <a:bodyPr/>
          <a:lstStyle/>
          <a:p>
            <a:pPr eaLnBrk="1" hangingPunct="1"/>
            <a:r>
              <a:rPr lang="en-US" smtClean="0"/>
              <a:t>Bonnie Cashin Collection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5562600"/>
            <a:ext cx="5791200" cy="9144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 smtClean="0"/>
              <a:t>Tuesday, March 16 2010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The Collection</a:t>
            </a:r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391400" cy="3962400"/>
          </a:xfrm>
        </p:spPr>
        <p:txBody>
          <a:bodyPr/>
          <a:lstStyle/>
          <a:p>
            <a:pPr eaLnBrk="1" hangingPunct="1"/>
            <a:r>
              <a:rPr lang="en-US" sz="2800" dirty="0" smtClean="0"/>
              <a:t>8666 “items” (photographs, clippings, sketches, etc.)</a:t>
            </a:r>
          </a:p>
          <a:p>
            <a:pPr eaLnBrk="1" hangingPunct="1"/>
            <a:endParaRPr lang="en-US" sz="2800" dirty="0" smtClean="0"/>
          </a:p>
          <a:p>
            <a:pPr eaLnBrk="1" hangingPunct="1"/>
            <a:r>
              <a:rPr lang="en-US" sz="2800" dirty="0" smtClean="0"/>
              <a:t>Approximately 5000 have not been indexed at all; we will start with these</a:t>
            </a:r>
          </a:p>
          <a:p>
            <a:pPr eaLnBrk="1" hangingPunct="1"/>
            <a:endParaRPr lang="en-US" sz="2800" dirty="0" smtClean="0"/>
          </a:p>
          <a:p>
            <a:pPr eaLnBrk="1" hangingPunct="1"/>
            <a:r>
              <a:rPr lang="en-US" sz="2800" dirty="0" smtClean="0"/>
              <a:t>Metadata taken from </a:t>
            </a:r>
            <a:r>
              <a:rPr lang="en-US" sz="2800" dirty="0" smtClean="0">
                <a:hlinkClick r:id="rId2"/>
              </a:rPr>
              <a:t>finding aid</a:t>
            </a:r>
            <a:endParaRPr lang="en-US" sz="2800" dirty="0" smtClean="0"/>
          </a:p>
        </p:txBody>
      </p:sp>
      <p:pic>
        <p:nvPicPr>
          <p:cNvPr id="3076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00800" y="4267200"/>
            <a:ext cx="220980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Basic Approach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876800" cy="3048000"/>
          </a:xfrm>
        </p:spPr>
        <p:txBody>
          <a:bodyPr/>
          <a:lstStyle/>
          <a:p>
            <a:pPr eaLnBrk="1" hangingPunct="1"/>
            <a:r>
              <a:rPr lang="en-US" smtClean="0"/>
              <a:t>ENHANCE existing metadata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Do not delete information; add to it. </a:t>
            </a:r>
          </a:p>
        </p:txBody>
      </p:sp>
      <p:pic>
        <p:nvPicPr>
          <p:cNvPr id="4100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10200" y="1905000"/>
            <a:ext cx="3200400" cy="3944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Title/Alternative Title(s)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6096000" cy="4343400"/>
          </a:xfrm>
        </p:spPr>
        <p:txBody>
          <a:bodyPr rtlCol="0">
            <a:normAutofit fontScale="85000" lnSpcReduction="20000"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Do not change the existing title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dirty="0" smtClean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Exception #1: Okay to correct typos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dirty="0" smtClean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Exception #2: Some title information may more appropriately belong in </a:t>
            </a:r>
            <a:r>
              <a:rPr lang="en-US" dirty="0" err="1" smtClean="0"/>
              <a:t>Description.note</a:t>
            </a:r>
            <a:r>
              <a:rPr lang="en-US" dirty="0" smtClean="0"/>
              <a:t> field (e.g. “See also boxes 168, 169 and 171”)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dirty="0" smtClean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Add </a:t>
            </a:r>
            <a:r>
              <a:rPr lang="en-US" dirty="0" err="1" smtClean="0"/>
              <a:t>AltTitle</a:t>
            </a:r>
            <a:r>
              <a:rPr lang="en-US" dirty="0" smtClean="0"/>
              <a:t>(s) as necessary if “title-like” phrases are present on the item</a:t>
            </a: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24575" y="2257425"/>
            <a:ext cx="3019425" cy="460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914400" y="304800"/>
            <a:ext cx="8229600" cy="792163"/>
          </a:xfrm>
        </p:spPr>
        <p:txBody>
          <a:bodyPr/>
          <a:lstStyle/>
          <a:p>
            <a:pPr eaLnBrk="1" hangingPunct="1"/>
            <a:r>
              <a:rPr lang="en-US" smtClean="0"/>
              <a:t>Subjects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3505200" y="1143000"/>
            <a:ext cx="5257800" cy="5029200"/>
          </a:xfrm>
        </p:spPr>
        <p:txBody>
          <a:bodyPr/>
          <a:lstStyle/>
          <a:p>
            <a:pPr eaLnBrk="1" hangingPunct="1"/>
            <a:r>
              <a:rPr lang="en-US" smtClean="0"/>
              <a:t>Index type of garment(s) depicted and significant material types using </a:t>
            </a:r>
            <a:r>
              <a:rPr lang="en-US" smtClean="0">
                <a:hlinkClick r:id="rId3"/>
              </a:rPr>
              <a:t>Art &amp; Architecture Thesaurus (AAT)</a:t>
            </a:r>
            <a:endParaRPr lang="en-US" smtClean="0"/>
          </a:p>
          <a:p>
            <a:pPr eaLnBrk="1" hangingPunct="1"/>
            <a:r>
              <a:rPr lang="en-US" smtClean="0"/>
              <a:t>Be as specific as possible</a:t>
            </a:r>
          </a:p>
          <a:p>
            <a:pPr eaLnBrk="1" hangingPunct="1"/>
            <a:r>
              <a:rPr lang="en-US" smtClean="0"/>
              <a:t>General rule: Do not use LCSH terms.</a:t>
            </a:r>
          </a:p>
        </p:txBody>
      </p:sp>
      <p:pic>
        <p:nvPicPr>
          <p:cNvPr id="614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304800"/>
            <a:ext cx="3429000" cy="442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Name</a:t>
            </a:r>
          </a:p>
        </p:txBody>
      </p:sp>
      <p:sp>
        <p:nvSpPr>
          <p:cNvPr id="7171" name="Content Placeholder 4"/>
          <p:cNvSpPr>
            <a:spLocks noGrp="1"/>
          </p:cNvSpPr>
          <p:nvPr>
            <p:ph idx="1"/>
          </p:nvPr>
        </p:nvSpPr>
        <p:spPr>
          <a:xfrm>
            <a:off x="4800600" y="1600200"/>
            <a:ext cx="4343400" cy="4800600"/>
          </a:xfrm>
        </p:spPr>
        <p:txBody>
          <a:bodyPr/>
          <a:lstStyle/>
          <a:p>
            <a:pPr eaLnBrk="1" hangingPunct="1"/>
            <a:r>
              <a:rPr lang="en-US" smtClean="0"/>
              <a:t>Add Cashin as Name.fashionDesigner where appropriate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Manufacturers: Add as Name.manufacturer</a:t>
            </a:r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219200"/>
            <a:ext cx="47117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smtClean="0"/>
              <a:t>Description</a:t>
            </a:r>
          </a:p>
        </p:txBody>
      </p:sp>
      <p:pic>
        <p:nvPicPr>
          <p:cNvPr id="819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5105400" y="228600"/>
            <a:ext cx="3238500" cy="3962400"/>
          </a:xfrm>
          <a:noFill/>
        </p:spPr>
      </p:pic>
      <p:sp>
        <p:nvSpPr>
          <p:cNvPr id="5" name="Content Placeholder 4"/>
          <p:cNvSpPr txBox="1">
            <a:spLocks/>
          </p:cNvSpPr>
          <p:nvPr/>
        </p:nvSpPr>
        <p:spPr bwMode="auto">
          <a:xfrm>
            <a:off x="304800" y="1600200"/>
            <a:ext cx="43434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buFont typeface="Arial" charset="0"/>
              <a:buChar char="•"/>
              <a:defRPr/>
            </a:pPr>
            <a:r>
              <a:rPr lang="en-US" sz="2400" dirty="0">
                <a:latin typeface="+mn-lt"/>
              </a:rPr>
              <a:t>Good place to preserve information you’ve moved from other fields (such as title)</a:t>
            </a:r>
          </a:p>
          <a:p>
            <a:pPr>
              <a:buFont typeface="Arial" charset="0"/>
              <a:buChar char="•"/>
              <a:defRPr/>
            </a:pPr>
            <a:endParaRPr lang="en-US" sz="2400" dirty="0">
              <a:latin typeface="+mn-lt"/>
            </a:endParaRPr>
          </a:p>
          <a:p>
            <a:pPr>
              <a:buFont typeface="Arial" charset="0"/>
              <a:buChar char="•"/>
              <a:defRPr/>
            </a:pPr>
            <a:r>
              <a:rPr lang="en-US" sz="2400" dirty="0">
                <a:latin typeface="+mn-lt"/>
              </a:rPr>
              <a:t>Include a general description of the resource</a:t>
            </a:r>
          </a:p>
          <a:p>
            <a:pPr>
              <a:buFont typeface="Arial" charset="0"/>
              <a:buChar char="•"/>
              <a:defRPr/>
            </a:pPr>
            <a:endParaRPr lang="en-US" sz="2400" dirty="0">
              <a:latin typeface="+mn-lt"/>
            </a:endParaRPr>
          </a:p>
          <a:p>
            <a:pPr>
              <a:buFont typeface="Arial" charset="0"/>
              <a:buChar char="•"/>
              <a:defRPr/>
            </a:pPr>
            <a:r>
              <a:rPr lang="en-US" sz="2400" dirty="0">
                <a:latin typeface="+mn-lt"/>
              </a:rPr>
              <a:t>Also use for more specific garment type terms when AAT headings are more general</a:t>
            </a:r>
            <a:endParaRPr lang="en-US" sz="2400" dirty="0"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smtClean="0"/>
              <a:t>Description</a:t>
            </a:r>
          </a:p>
        </p:txBody>
      </p:sp>
      <p:pic>
        <p:nvPicPr>
          <p:cNvPr id="9219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5276850" y="2971800"/>
            <a:ext cx="3867150" cy="3886200"/>
          </a:xfrm>
          <a:noFill/>
        </p:spPr>
      </p:pic>
      <p:sp>
        <p:nvSpPr>
          <p:cNvPr id="5" name="Content Placeholder 4"/>
          <p:cNvSpPr txBox="1">
            <a:spLocks/>
          </p:cNvSpPr>
          <p:nvPr/>
        </p:nvSpPr>
        <p:spPr bwMode="auto">
          <a:xfrm>
            <a:off x="838200" y="1524000"/>
            <a:ext cx="43434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buFont typeface="Arial" charset="0"/>
              <a:buChar char="•"/>
              <a:defRPr/>
            </a:pPr>
            <a:r>
              <a:rPr lang="en-US" sz="2400" dirty="0">
                <a:latin typeface="+mn-lt"/>
              </a:rPr>
              <a:t>Some items have text</a:t>
            </a:r>
          </a:p>
          <a:p>
            <a:pPr>
              <a:buFont typeface="Arial" charset="0"/>
              <a:buChar char="•"/>
              <a:defRPr/>
            </a:pPr>
            <a:endParaRPr lang="en-US" sz="2400" dirty="0">
              <a:latin typeface="+mn-lt"/>
            </a:endParaRPr>
          </a:p>
          <a:p>
            <a:pPr>
              <a:buFont typeface="Arial" charset="0"/>
              <a:buChar char="•"/>
              <a:defRPr/>
            </a:pPr>
            <a:r>
              <a:rPr lang="en-US" sz="2400" dirty="0">
                <a:latin typeface="+mn-lt"/>
              </a:rPr>
              <a:t>Transcribe text if it seems significant, and if it has not already been transcribed elsewhere (e.g. </a:t>
            </a:r>
            <a:r>
              <a:rPr lang="en-US" sz="2400" dirty="0" err="1">
                <a:latin typeface="+mn-lt"/>
              </a:rPr>
              <a:t>AltTitle</a:t>
            </a:r>
            <a:r>
              <a:rPr lang="en-US" sz="2400" dirty="0">
                <a:latin typeface="+mn-lt"/>
              </a:rPr>
              <a:t>)</a:t>
            </a:r>
          </a:p>
          <a:p>
            <a:pPr>
              <a:buFont typeface="Arial" charset="0"/>
              <a:buChar char="•"/>
              <a:defRPr/>
            </a:pPr>
            <a:endParaRPr lang="en-US" sz="2400" dirty="0">
              <a:latin typeface="+mn-lt"/>
            </a:endParaRPr>
          </a:p>
          <a:p>
            <a:pPr>
              <a:buFont typeface="Arial" charset="0"/>
              <a:buChar char="•"/>
              <a:defRPr/>
            </a:pPr>
            <a:r>
              <a:rPr lang="en-US" sz="2400" dirty="0">
                <a:latin typeface="+mn-lt"/>
              </a:rPr>
              <a:t>Example: </a:t>
            </a:r>
            <a:r>
              <a:rPr lang="en-US" sz="2400" i="1" dirty="0"/>
              <a:t>Essay text: “Go together – Knits &amp; Leathers. Two of the top fashions this year are…”</a:t>
            </a:r>
            <a:endParaRPr lang="en-US" sz="2400" dirty="0"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1400" y="1371600"/>
            <a:ext cx="5562600" cy="5486400"/>
          </a:xfrm>
        </p:spPr>
        <p:txBody>
          <a:bodyPr/>
          <a:lstStyle/>
          <a:p>
            <a:pPr eaLnBrk="1" hangingPunct="1"/>
            <a:r>
              <a:rPr lang="en-US" smtClean="0"/>
              <a:t>Existing dates in records are from folders – often a range of dates covering the entire folder</a:t>
            </a:r>
          </a:p>
          <a:p>
            <a:pPr eaLnBrk="1" hangingPunct="1"/>
            <a:r>
              <a:rPr lang="en-US" smtClean="0"/>
              <a:t>Use that range as the Date.created if you can not determine a more specific date</a:t>
            </a:r>
          </a:p>
          <a:p>
            <a:pPr eaLnBrk="1" hangingPunct="1"/>
            <a:r>
              <a:rPr lang="en-US" smtClean="0"/>
              <a:t>Also provide a Date.normalized</a:t>
            </a:r>
          </a:p>
        </p:txBody>
      </p:sp>
      <p:pic>
        <p:nvPicPr>
          <p:cNvPr id="1024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36576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5943600" cy="4525963"/>
          </a:xfrm>
        </p:spPr>
        <p:txBody>
          <a:bodyPr/>
          <a:lstStyle/>
          <a:p>
            <a:pPr eaLnBrk="1" hangingPunct="1"/>
            <a:r>
              <a:rPr lang="en-US" sz="2800" smtClean="0"/>
              <a:t>Add most appropriate Type.genre term from AAT to describe the original resource (e.g. </a:t>
            </a:r>
            <a:r>
              <a:rPr lang="en-US" sz="2800" i="1" smtClean="0"/>
              <a:t>sketches, clippings (information artifacts), fashion photographs)</a:t>
            </a:r>
          </a:p>
          <a:p>
            <a:pPr eaLnBrk="1" hangingPunct="1"/>
            <a:r>
              <a:rPr lang="en-US" sz="2800" smtClean="0"/>
              <a:t>Do NOT use TGM or other terms that may be present; we will be cleaning those up</a:t>
            </a:r>
          </a:p>
          <a:p>
            <a:pPr eaLnBrk="1" hangingPunct="1"/>
            <a:r>
              <a:rPr lang="en-US" sz="2800" smtClean="0"/>
              <a:t>Type.typeOfResource should always be </a:t>
            </a:r>
            <a:r>
              <a:rPr lang="en-US" sz="2800" i="1" smtClean="0"/>
              <a:t>still image</a:t>
            </a:r>
            <a:endParaRPr lang="en-US" sz="2800" smtClean="0"/>
          </a:p>
        </p:txBody>
      </p:sp>
      <p:pic>
        <p:nvPicPr>
          <p:cNvPr id="1126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67400" y="2433638"/>
            <a:ext cx="3276600" cy="4424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3505200" y="914400"/>
            <a:ext cx="5181600" cy="1143000"/>
          </a:xfrm>
        </p:spPr>
        <p:txBody>
          <a:bodyPr/>
          <a:lstStyle/>
          <a:p>
            <a:pPr algn="l" eaLnBrk="1" hangingPunct="1"/>
            <a:r>
              <a:rPr lang="en-US" smtClean="0"/>
              <a:t> Format     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200400"/>
            <a:ext cx="8534400" cy="3657600"/>
          </a:xfrm>
        </p:spPr>
        <p:txBody>
          <a:bodyPr/>
          <a:lstStyle/>
          <a:p>
            <a:pPr eaLnBrk="1" hangingPunct="1"/>
            <a:r>
              <a:rPr lang="en-US" smtClean="0"/>
              <a:t>Add Format.extent to describe the original resource(s)</a:t>
            </a:r>
          </a:p>
          <a:p>
            <a:pPr eaLnBrk="1" hangingPunct="1"/>
            <a:r>
              <a:rPr lang="en-US" smtClean="0"/>
              <a:t>Be sure to include number of items, and whether they are black and white or colored</a:t>
            </a:r>
          </a:p>
          <a:p>
            <a:pPr eaLnBrk="1" hangingPunct="1"/>
            <a:r>
              <a:rPr lang="en-US" smtClean="0"/>
              <a:t>Example: </a:t>
            </a:r>
            <a:r>
              <a:rPr lang="en-US" i="1" smtClean="0"/>
              <a:t>1 photograph : b&amp;w</a:t>
            </a:r>
          </a:p>
          <a:p>
            <a:pPr eaLnBrk="1" hangingPunct="1"/>
            <a:r>
              <a:rPr lang="en-US" smtClean="0"/>
              <a:t>Example #2: </a:t>
            </a:r>
            <a:r>
              <a:rPr lang="en-US" i="1" smtClean="0"/>
              <a:t>2 clippings : color</a:t>
            </a:r>
            <a:endParaRPr lang="en-US" smtClean="0"/>
          </a:p>
          <a:p>
            <a:pPr eaLnBrk="1" hangingPunct="1"/>
            <a:endParaRPr lang="en-US" smtClean="0"/>
          </a:p>
        </p:txBody>
      </p:sp>
      <p:pic>
        <p:nvPicPr>
          <p:cNvPr id="1229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2895600" cy="315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Source / Relation / Rights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858000" cy="2362200"/>
          </a:xfrm>
        </p:spPr>
        <p:txBody>
          <a:bodyPr/>
          <a:lstStyle/>
          <a:p>
            <a:pPr eaLnBrk="1" hangingPunct="1"/>
            <a:r>
              <a:rPr lang="en-US" smtClean="0"/>
              <a:t>Generally, do not use or edit these fields</a:t>
            </a:r>
          </a:p>
          <a:p>
            <a:pPr eaLnBrk="1" hangingPunct="1"/>
            <a:r>
              <a:rPr lang="en-US" smtClean="0"/>
              <a:t>Relation: Consult if you believe its use is justified in a specific case</a:t>
            </a:r>
          </a:p>
          <a:p>
            <a:pPr eaLnBrk="1" hangingPunct="1"/>
            <a:r>
              <a:rPr lang="en-US" smtClean="0"/>
              <a:t>Unrelated picture:</a:t>
            </a: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19600" y="3733800"/>
            <a:ext cx="2209800" cy="2932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27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27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229600" cy="1143000"/>
          </a:xfrm>
        </p:spPr>
        <p:txBody>
          <a:bodyPr/>
          <a:lstStyle/>
          <a:p>
            <a:r>
              <a:rPr lang="en-US" dirty="0" smtClean="0"/>
              <a:t>Group Cataloging Exercise!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3657600" cy="1066800"/>
          </a:xfrm>
        </p:spPr>
        <p:txBody>
          <a:bodyPr/>
          <a:lstStyle/>
          <a:p>
            <a:r>
              <a:rPr lang="en-US" dirty="0" smtClean="0">
                <a:hlinkClick r:id="rId2"/>
              </a:rPr>
              <a:t>http://</a:t>
            </a:r>
            <a:r>
              <a:rPr lang="en-US" dirty="0" smtClean="0">
                <a:hlinkClick r:id="rId2"/>
              </a:rPr>
              <a:t>ow.ly/1lj08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62600" y="1080372"/>
            <a:ext cx="3581400" cy="57776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19400"/>
            <a:ext cx="3048000" cy="1371600"/>
          </a:xfrm>
        </p:spPr>
        <p:txBody>
          <a:bodyPr/>
          <a:lstStyle/>
          <a:p>
            <a:r>
              <a:rPr lang="en-US" dirty="0" smtClean="0"/>
              <a:t>THANK YOU!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62400" y="1524000"/>
            <a:ext cx="3733800" cy="46123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674</TotalTime>
  <Words>424</Words>
  <Application>Microsoft Office PowerPoint</Application>
  <PresentationFormat>On-screen Show (4:3)</PresentationFormat>
  <Paragraphs>69</Paragraphs>
  <Slides>14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Bonnie Cashin Collection</vt:lpstr>
      <vt:lpstr>The Collection</vt:lpstr>
      <vt:lpstr>Basic Approach</vt:lpstr>
      <vt:lpstr>Title/Alternative Title(s)</vt:lpstr>
      <vt:lpstr>Subjects</vt:lpstr>
      <vt:lpstr>Name</vt:lpstr>
      <vt:lpstr>Description</vt:lpstr>
      <vt:lpstr>Description</vt:lpstr>
      <vt:lpstr>Date</vt:lpstr>
      <vt:lpstr>Type</vt:lpstr>
      <vt:lpstr> Format       </vt:lpstr>
      <vt:lpstr>Source / Relation / Rights</vt:lpstr>
      <vt:lpstr>Group Cataloging Exercise!</vt:lpstr>
      <vt:lpstr>Questions?</vt:lpstr>
    </vt:vector>
  </TitlesOfParts>
  <Company>UCLA Library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Bonnie Cashin Collection</dc:title>
  <dc:creator>Horning, Claudia</dc:creator>
  <cp:lastModifiedBy>Horning, Claudia</cp:lastModifiedBy>
  <cp:revision>4</cp:revision>
  <dcterms:created xsi:type="dcterms:W3CDTF">2010-03-10T01:31:42Z</dcterms:created>
  <dcterms:modified xsi:type="dcterms:W3CDTF">2010-03-16T00:19:55Z</dcterms:modified>
</cp:coreProperties>
</file>